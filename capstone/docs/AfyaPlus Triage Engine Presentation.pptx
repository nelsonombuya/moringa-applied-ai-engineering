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Inter SemiBold"/>
      <p:regular r:id="rId13"/>
      <p:bold r:id="rId14"/>
      <p:italic r:id="rId15"/>
      <p:boldItalic r:id="rId16"/>
    </p:embeddedFont>
    <p:embeddedFont>
      <p:font typeface="Inter"/>
      <p:regular r:id="rId17"/>
      <p:bold r:id="rId18"/>
      <p:italic r:id="rId19"/>
      <p:boldItalic r:id="rId20"/>
    </p:embeddedFont>
    <p:embeddedFont>
      <p:font typeface="Urbanist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Italic.fntdata"/><Relationship Id="rId11" Type="http://schemas.openxmlformats.org/officeDocument/2006/relationships/slide" Target="slides/slide6.xml"/><Relationship Id="rId22" Type="http://schemas.openxmlformats.org/officeDocument/2006/relationships/font" Target="fonts/Urbanist-bold.fntdata"/><Relationship Id="rId10" Type="http://schemas.openxmlformats.org/officeDocument/2006/relationships/slide" Target="slides/slide5.xml"/><Relationship Id="rId21" Type="http://schemas.openxmlformats.org/officeDocument/2006/relationships/font" Target="fonts/Urbanist-regular.fntdata"/><Relationship Id="rId13" Type="http://schemas.openxmlformats.org/officeDocument/2006/relationships/font" Target="fonts/InterSemiBold-regular.fntdata"/><Relationship Id="rId24" Type="http://schemas.openxmlformats.org/officeDocument/2006/relationships/font" Target="fonts/Urbanist-boldItalic.fntdata"/><Relationship Id="rId12" Type="http://schemas.openxmlformats.org/officeDocument/2006/relationships/slide" Target="slides/slide7.xml"/><Relationship Id="rId23" Type="http://schemas.openxmlformats.org/officeDocument/2006/relationships/font" Target="fonts/Urbanis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SemiBold-italic.fntdata"/><Relationship Id="rId14" Type="http://schemas.openxmlformats.org/officeDocument/2006/relationships/font" Target="fonts/InterSemiBold-bold.fntdata"/><Relationship Id="rId17" Type="http://schemas.openxmlformats.org/officeDocument/2006/relationships/font" Target="fonts/Inter-regular.fntdata"/><Relationship Id="rId16" Type="http://schemas.openxmlformats.org/officeDocument/2006/relationships/font" Target="fonts/InterSemiBold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nter-italic.fntdata"/><Relationship Id="rId6" Type="http://schemas.openxmlformats.org/officeDocument/2006/relationships/slide" Target="slides/slide1.xml"/><Relationship Id="rId18" Type="http://schemas.openxmlformats.org/officeDocument/2006/relationships/font" Target="fonts/Inter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9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3.png"/><Relationship Id="rId6" Type="http://schemas.openxmlformats.org/officeDocument/2006/relationships/image" Target="../media/image16.png"/><Relationship Id="rId7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595437" y="1992808"/>
            <a:ext cx="9001125" cy="2011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AfyaPlus Triage Engine: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Turning Patient Messages into Safe, Structured Action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809738" y="4567095"/>
            <a:ext cx="8572500" cy="6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resilient AI triage prototype for AfyaPlus Health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July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5049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</a:t>
            </a:r>
            <a:r>
              <a:rPr b="1" i="0" lang="en-US" sz="36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Business Problem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704850" y="15049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809625" y="150495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Patients text in free-form language, but backend systems require structured data to route correctly.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704850" y="23050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09625" y="2305050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Three critical failures identified in early testing: conversational fluff, hallucinated medical facts, and system crashes during poor connectivity.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704850" y="34099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09625" y="340995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Connectivity drops are a real, persistent constraint for patients across Kenya and the region.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704850" y="42100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09625" y="4210050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cost of failure: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 missed emergency routed incorrectly, or a total system outage when a patient needs help most.</a:t>
            </a:r>
            <a:endParaRPr/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504950"/>
            <a:ext cx="5286375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04950"/>
            <a:ext cx="5286375" cy="2771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504950"/>
            <a:ext cx="5286375" cy="2771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Solution: A </a:t>
            </a:r>
            <a:r>
              <a:rPr b="1" i="0" lang="en-US" sz="36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Dual-Pathway</a:t>
            </a: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AI Pipeline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1809750" y="4657725"/>
            <a:ext cx="8572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"It's like having a backup generator that kicks in instantly during a power cut, ensuring patients are never left without a response."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962025" y="1895475"/>
            <a:ext cx="473059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Primary Cloud AI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962025" y="2362200"/>
            <a:ext cx="450532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Built using GPT-4o-mini for primary use. It processes patient messages quickly and accurately. If the connection fails or times out (within 4 seconds), the system instantly alerts the fallback.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6724650" y="1895475"/>
            <a:ext cx="473059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Local Offline Backup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724650" y="2362200"/>
            <a:ext cx="45053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Llama 3.2 running entirely offline acts as the failover. The system automatically switches to this local model with zero manual intervention if the cloud is unreachable.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04950"/>
            <a:ext cx="3429000" cy="3219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1504950"/>
            <a:ext cx="3429000" cy="3219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1504950"/>
            <a:ext cx="3429000" cy="321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Why This </a:t>
            </a:r>
            <a:r>
              <a:rPr b="1" i="0" lang="en-US" sz="36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Model Choice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866775" y="2438400"/>
            <a:ext cx="298037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Cloud (GPT-4o-mini)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866775" y="2905125"/>
            <a:ext cx="28384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Chosen for strong reasoning at low cost and low latency. Highly suitable for producing accurate, real-time patient triage.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4676775" y="2438400"/>
            <a:ext cx="298037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Local (Llama 3.2)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4676775" y="2905125"/>
            <a:ext cx="28384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Lightweight enough to run on modest hardware without the internet. Critical for ensuring absolute reliability in low-connectivity areas.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8486775" y="2438400"/>
            <a:ext cx="298037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Structured Prompts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8486775" y="2905125"/>
            <a:ext cx="28384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Provides a clear "role", forcing step-by-step reasoning with strict, hard-coded rules against giving medical advice to protect safety.</a:t>
            </a:r>
            <a:endParaRPr/>
          </a:p>
        </p:txBody>
      </p:sp>
      <p:pic>
        <p:nvPicPr>
          <p:cNvPr descr="image.png" id="131" name="Google Shape;131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181927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76775" y="18192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86775" y="1819275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04950"/>
            <a:ext cx="5286375" cy="2466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504950"/>
            <a:ext cx="5286375" cy="2466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Demonstrating</a:t>
            </a: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It Works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1809750" y="4352925"/>
            <a:ext cx="85725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system was heavily tested against both normal patient messages and deliberately </a:t>
            </a:r>
            <a:r>
              <a:rPr b="1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adversarial inputs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(e.g., trying to trick the AI into ignoring safety rules), and it held up successfully.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962025" y="1895475"/>
            <a:ext cx="473059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Before (Unstructured)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962025" y="2362200"/>
            <a:ext cx="45053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Early iterations using basic instructions produced inconsistent responses, conversational fluff, and posed major safety risks due to uncontrolled data formats.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6724650" y="1895475"/>
            <a:ext cx="473059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After (Final Prototype)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6724650" y="2362200"/>
            <a:ext cx="45053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final, hardened instructions produce a clean, consistent, safe structured data response every single time, ready for immediate backend routing.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Operational </a:t>
            </a:r>
            <a:r>
              <a:rPr b="1" i="0" lang="en-US" sz="36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Risks &amp; Limitations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1000125" y="1504950"/>
            <a:ext cx="909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Not a Diagnostic Tool: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This is strictly a routing/triage tool. It deliberately refuses to calculate medication doses or suggest treatments, by design, for patient safety.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1000125" y="2400300"/>
            <a:ext cx="909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Speed vs. Reliability: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Local/offline AI responses are slightly slower and less consistently formatted than cloud responses—a necessary tradeoff for guaranteed uptime.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1000125" y="3295650"/>
            <a:ext cx="909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Adversarial Actors: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Instruction-based safety rules heavily reduce, but do not 100% eliminate, the risk of a determined bad actor bypassing the system. Production needs traditional safeguards.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1000125" y="4191000"/>
            <a:ext cx="909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Network Constraints: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Network dependency remains a real-world constraint that this fallback design mitigates gracefully, but does not remove entirely.</a:t>
            </a:r>
            <a:endParaRPr/>
          </a:p>
        </p:txBody>
      </p:sp>
      <p:pic>
        <p:nvPicPr>
          <p:cNvPr descr="image.png" id="157" name="Google Shape;15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28762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424112"/>
            <a:ext cx="219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319462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214812"/>
            <a:ext cx="314325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9"/>
          <p:cNvSpPr txBox="1"/>
          <p:nvPr/>
        </p:nvSpPr>
        <p:spPr>
          <a:xfrm>
            <a:off x="571500" y="571500"/>
            <a:ext cx="5550693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Business </a:t>
            </a:r>
            <a:r>
              <a:rPr b="1" i="0" lang="en-US" sz="36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Impact &amp; Next Steps</a:t>
            </a:r>
            <a:endParaRPr/>
          </a:p>
        </p:txBody>
      </p:sp>
      <p:pic>
        <p:nvPicPr>
          <p:cNvPr descr="image.png" id="166" name="Google Shape;16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9"/>
          <p:cNvSpPr txBox="1"/>
          <p:nvPr/>
        </p:nvSpPr>
        <p:spPr>
          <a:xfrm>
            <a:off x="571500" y="2090737"/>
            <a:ext cx="52863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We now have a working prototype demonstrating that messy patient messages can be reliably converted into safe, structured, backend-ready triage decisions, even during total network failures.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571500" y="3690937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Next Steps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704850" y="415766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809625" y="4157662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Connect to a real backend routing system.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704850" y="465296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809625" y="465296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Expand testing with real (anonymized) patient message data.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704850" y="545306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809625" y="545306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Formalize a comprehensive safety and compliance review before any clinical deployment.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